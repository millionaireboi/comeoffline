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present this slide — just leave it up while you say hi. One framing sentence before anything else: “this isn't a brand-deal pitch. we want to talk about the money you're NOT making from something you already do.” Then go straight to slide 2 and shut up — the first ten minutes of this call should be them talking, not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important slide of the call — this is where value-based selling happens. Ask, then listen for 5–10 minutes. Take notes: their answers decide which value pillar you lead with later. Money frustration → lead with slide 7 (income). Content grind → slide 8. Lonely-at-the-top / community energy → slide 9. Ambition/status → slide 10. Everything they say here gets played back to them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present the pains they actually named on slide 2 — skip the rest, or better, quote them: “you said brand deals ghost you after the first email…” If they said money is fine, don't force this; move to the unpaid-work angle on the next slide instead. The goal is agreement, not a lecture. End with: “does that match your experience?” and let them add to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cost-of-doing-nothing slide — the core of value selling. Make it personal with their slide-2 answers: “you said 30 people DM you every time you post a restaurant — that's a funnel. right now it converts for the restaurant, for free.” Pause after the last line. The realization you want them to have: they already do this job; the only question is whether it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 from problem to solution. One beat of context: social media has enough ads — we'd rather have creators inside the room than posting about it from outside. Then the promise of the next four slides: “so we built a program around four things you told us you want” — and name the four in the order that matches THEIR slide-2 answers: money that repeats, content without a budget, an audience that becomes your people, and being early to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economic argument: recurring beats one-off. A brand deal is a transaction; this is an asset — the same 40 trusted followers can buy again every single week, and events repeat. Don't read the table; pick the two rows that match their pain from slide 3. Land the compounding line out loud: “the work you did last month keeps paying this month, because the people you brought come back.”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creators feeling the content grind (slide 2 tells you). The insight: IRL content is what's outperforming right now, and it's the one format you can't fake — and they get the setting for free. Their audience also becomes their footage: the room is full of their own people. If they worry about creative control: brief, not script. They talk like they're telling a friend, because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emotional pillar — for many micro-creators this lands harder than money. Parasocial becomes real: they finally meet the people behind the usernames, and those people meet each other. That's also why this GROWS their account instead of burning it — every event produces tagged stories, new followers, and a tighter core audience. Free entry belongs here too: they never pay to enter a room they're filling.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and earliness — for the ambitious ones. Be honest that levels two and three are deliberately open: “we're defining the top of the ladder with whoever gets there first.” Do NOT invent perks for 50/150 seats. The real offer at this level is access: direct line to the founder, pages built together, a say in which events run. That access is what disappears once this scales past 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Objection pre-emption. The subtext of every line: “what do you have to lose?” — the honest answer is one reel per event they were probably attending anyway. If they ask “what if my audience doesn't buy?”: clicks still pay, and free entry means they've lost nothing but gained the night. The no-exclusivity line matters to anyone with existing brand relationships — this stacks on top, it doesn't replace.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ROI moment — THEIR numbers, not our examples. Share your screen or just talk it through; write their figures down as you go. Be deliberately conservative — halve whatever they estimate — so the result feels like a floor, not hype. A number they computed themselves is one they defend to themselves later. Anchor against effort: “that's your number for one reel per event you were going to anyway.” Then stop selling.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a decision, not “think about it.” The three steps are the ask — walk them: handle, first event, page draft this week. If they're in, send the WhatsApp message together while still on the call; that's the handshake. If they hesitate, ask which part gives them pause and go back to that ONE slide — don't re-run the deck. A soft close that works: “worst case, you come to one event free and decide it's not for you.”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rty-67.jpg"/>
          <p:cNvPicPr>
            <a:picLocks noChangeAspect="1"/>
          </p:cNvPicPr>
          <p:nvPr/>
        </p:nvPicPr>
        <p:blipFill>
          <a:blip r:embed="rId2"/>
          <a:srcRect t="6825" b="68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 spc="420">
                <a:solidFill>
                  <a:srgbClr val="D4A574"/>
                </a:solidFill>
                <a:latin typeface="Avenir Next"/>
              </a:rPr>
              <a:t>come offline · bangalore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0" b="1" i="0">
                <a:solidFill>
                  <a:srgbClr val="FFFDF6"/>
                </a:solidFill>
                <a:latin typeface="Avenir Next"/>
              </a:rPr>
              <a:t>get paid to go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B8AC9E"/>
                </a:solidFill>
                <a:latin typeface="Avenir Next"/>
              </a:rPr>
              <a:t>a conversation about what your influence is actually worth.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8AC9E"/>
                </a:solidFill>
                <a:latin typeface="Avenir Next"/>
              </a:rPr>
              <a:t>the creator program · </a:t>
            </a:r>
            <a:r>
              <a:rPr sz="1400" b="1" i="0">
                <a:solidFill>
                  <a:srgbClr val="D4A574"/>
                </a:solidFill>
                <a:latin typeface="Avenir Next"/>
              </a:rPr>
              <a:t>bangalore’s first 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4704D"/>
                </a:solidFill>
                <a:latin typeface="Avenir Next"/>
              </a:rPr>
              <a:t>✳  </a:t>
            </a:r>
            <a:r>
              <a:rPr sz="1300" b="1" i="0" spc="320">
                <a:solidFill>
                  <a:srgbClr val="5C4A3A"/>
                </a:solidFill>
                <a:latin typeface="Avenir Next"/>
              </a:rPr>
              <a:t>first — about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78408"/>
            <a:ext cx="502920" cy="27940"/>
          </a:xfrm>
          <a:prstGeom prst="rect">
            <a:avLst/>
          </a:prstGeom>
          <a:solidFill>
            <a:srgbClr val="C47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3D2E22"/>
                </a:solidFill>
                <a:latin typeface="Avenir Next"/>
              </a:rPr>
              <a:t>before we explain anything, we want to understand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10515600" cy="1170432"/>
          </a:xfrm>
          <a:prstGeom prst="roundRect">
            <a:avLst>
              <a:gd name="adj" fmla="val 12000"/>
            </a:avLst>
          </a:prstGeom>
          <a:solidFill>
            <a:srgbClr val="FFFDF6"/>
          </a:solidFill>
          <a:ln w="12700">
            <a:solidFill>
              <a:srgbClr val="E8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60904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C4704D"/>
                </a:solidFill>
                <a:latin typeface="Avenir Nex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67919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3D2E22"/>
                </a:solidFill>
                <a:latin typeface="Avenir Next"/>
              </a:rPr>
              <a:t>what do you create — and who actually listens?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3639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9B8E82"/>
                </a:solidFill>
                <a:latin typeface="Avenir Next"/>
              </a:rPr>
              <a:t>not follower count. who texts you “where is this?” when you post a story?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10515600" cy="1170432"/>
          </a:xfrm>
          <a:prstGeom prst="roundRect">
            <a:avLst>
              <a:gd name="adj" fmla="val 12000"/>
            </a:avLst>
          </a:prstGeom>
          <a:solidFill>
            <a:srgbClr val="FFFDF6"/>
          </a:solidFill>
          <a:ln w="12700">
            <a:solidFill>
              <a:srgbClr val="E8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986784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C4704D"/>
                </a:solidFill>
                <a:latin typeface="Avenir Nex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0050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3D2E22"/>
                </a:solidFill>
                <a:latin typeface="Avenir Next"/>
              </a:rPr>
              <a:t>what does going out look like for you right now?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9B8E82"/>
                </a:solidFill>
                <a:latin typeface="Avenir Next"/>
              </a:rPr>
              <a:t>how often, with whom, who plans it?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166360"/>
            <a:ext cx="10515600" cy="1170432"/>
          </a:xfrm>
          <a:prstGeom prst="roundRect">
            <a:avLst>
              <a:gd name="adj" fmla="val 12000"/>
            </a:avLst>
          </a:prstGeom>
          <a:solidFill>
            <a:srgbClr val="FFFDF6"/>
          </a:solidFill>
          <a:ln w="12700">
            <a:solidFill>
              <a:srgbClr val="E8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312664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C4704D"/>
                </a:solidFill>
                <a:latin typeface="Avenir Nex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533095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3D2E22"/>
                </a:solidFill>
                <a:latin typeface="Avenir Next"/>
              </a:rPr>
              <a:t>how does creator money work for you today?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578815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9B8E82"/>
                </a:solidFill>
                <a:latin typeface="Avenir Next"/>
              </a:rPr>
              <a:t>brand deals? barters? nothing yet? what’s annoying about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4704D"/>
                </a:solidFill>
                <a:latin typeface="Avenir Next"/>
              </a:rPr>
              <a:t>✳  </a:t>
            </a:r>
            <a:r>
              <a:rPr sz="1300" b="1" i="0" spc="320">
                <a:solidFill>
                  <a:srgbClr val="5C4A3A"/>
                </a:solidFill>
                <a:latin typeface="Avenir Next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78408"/>
            <a:ext cx="502920" cy="27940"/>
          </a:xfrm>
          <a:prstGeom prst="rect">
            <a:avLst/>
          </a:prstGeom>
          <a:solidFill>
            <a:srgbClr val="C47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3D2E22"/>
                </a:solidFill>
                <a:latin typeface="Avenir Next"/>
              </a:rPr>
              <a:t>being a creator pays </a:t>
            </a:r>
            <a:r>
              <a:rPr sz="3800" b="1" i="0">
                <a:solidFill>
                  <a:srgbClr val="C4704D"/>
                </a:solidFill>
                <a:latin typeface="Avenir Next"/>
              </a:rPr>
              <a:t>worse than it looks.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C4704D"/>
                </a:solidFill>
                <a:latin typeface="Avenir Next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1460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3D2E22"/>
                </a:solidFill>
                <a:latin typeface="Avenir Next"/>
              </a:rPr>
              <a:t>brand deals are one-offs.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9864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C4A3A"/>
                </a:solidFill>
                <a:latin typeface="Avenir Next"/>
              </a:rPr>
              <a:t>you pitch, you wait, you post, you start from zero again next month.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C4704D"/>
                </a:solidFill>
                <a:latin typeface="Avenir Next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3D2E22"/>
                </a:solidFill>
                <a:latin typeface="Avenir Next"/>
              </a:rPr>
              <a:t>promo codes spend your credibility.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5876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C4A3A"/>
                </a:solidFill>
                <a:latin typeface="Avenir Next"/>
              </a:rPr>
              <a:t>every app you shill that your audience regrets is trust you don’t get 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C4704D"/>
                </a:solidFill>
                <a:latin typeface="Avenir Next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3484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3D2E22"/>
                </a:solidFill>
                <a:latin typeface="Avenir Next"/>
              </a:rPr>
              <a:t>payment terms are built for agencies.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1888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C4A3A"/>
                </a:solidFill>
                <a:latin typeface="Avenir Next"/>
              </a:rPr>
              <a:t>invoices, follow-ups, net-60 — for a reel that took your whole sunday.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C4704D"/>
                </a:solidFill>
                <a:latin typeface="Avenir Next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9496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3D2E22"/>
                </a:solidFill>
                <a:latin typeface="Avenir Next"/>
              </a:rPr>
              <a:t>platforms pay reach. yours pays nothing for trust.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77900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C4A3A"/>
                </a:solidFill>
                <a:latin typeface="Avenir Next"/>
              </a:rPr>
              <a:t>the algorithm rewards strangers scrolling — not the 40 people who’d actually show up for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4704D"/>
                </a:solidFill>
                <a:latin typeface="Avenir Next"/>
              </a:rPr>
              <a:t>✳  </a:t>
            </a:r>
            <a:r>
              <a:rPr sz="1300" b="1" i="0" spc="320">
                <a:solidFill>
                  <a:srgbClr val="5C4A3A"/>
                </a:solidFill>
                <a:latin typeface="Avenir Next"/>
              </a:rPr>
              <a:t>the part nobody pays you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78408"/>
            <a:ext cx="502920" cy="27940"/>
          </a:xfrm>
          <a:prstGeom prst="rect">
            <a:avLst/>
          </a:prstGeom>
          <a:solidFill>
            <a:srgbClr val="C47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3D2E22"/>
                </a:solidFill>
                <a:latin typeface="Avenir Next"/>
              </a:rPr>
              <a:t>your dms are already</a:t>
            </a:r>
          </a:p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C4704D"/>
                </a:solidFill>
                <a:latin typeface="Avenir Next"/>
              </a:rPr>
              <a:t>a ticketing desk.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875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5C4A3A"/>
                </a:solidFill>
                <a:latin typeface="Avenir Next"/>
              </a:rPr>
              <a:t>every “where is this place?”, every plan you organise, every friend who shows up because you said </a:t>
            </a:r>
            <a:r>
              <a:rPr sz="2100" b="0" i="1">
                <a:solidFill>
                  <a:srgbClr val="C4704D"/>
                </a:solidFill>
                <a:latin typeface="Avenir Next"/>
              </a:rPr>
              <a:t>“come, i’m going”</a:t>
            </a:r>
            <a:r>
              <a:rPr sz="2100" b="0" i="0">
                <a:solidFill>
                  <a:srgbClr val="5C4A3A"/>
                </a:solidFill>
                <a:latin typeface="Avenir Next"/>
              </a:rPr>
              <a:t> — that’s conversion. it’s just never been paid.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9B8E82"/>
                </a:solidFill>
                <a:latin typeface="Bradley Hand"/>
              </a:rPr>
              <a:t>you’ve been the distribution. you’ve never been paid like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B8AC9E"/>
                </a:solidFill>
                <a:latin typeface="Avenir Next"/>
              </a:rPr>
              <a:t>here’s the shift we’re betting on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FFFDF6"/>
                </a:solidFill>
                <a:latin typeface="Avenir Next"/>
              </a:rPr>
              <a:t>your most valuable asset isn’t reach.</a:t>
            </a:r>
          </a:p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FFFDF6"/>
                </a:solidFill>
                <a:latin typeface="Avenir Next"/>
              </a:rPr>
              <a:t>it’s that people </a:t>
            </a:r>
            <a:r>
              <a:rPr sz="4000" b="1" i="0">
                <a:solidFill>
                  <a:srgbClr val="D4A574"/>
                </a:solidFill>
                <a:latin typeface="Avenir Next"/>
              </a:rPr>
              <a:t>actually show up</a:t>
            </a:r>
            <a:r>
              <a:rPr sz="4000" b="1" i="0">
                <a:solidFill>
                  <a:srgbClr val="FFFDF6"/>
                </a:solidFill>
                <a:latin typeface="Avenir Next"/>
              </a:rPr>
              <a:t> when you say 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B8AC9E"/>
                </a:solidFill>
                <a:latin typeface="Avenir Next"/>
              </a:rPr>
              <a:t>ads monetise attention. we monetise trust — and trust compounds.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4704D"/>
                </a:solidFill>
                <a:latin typeface="Avenir Next"/>
              </a:rPr>
              <a:t>✳  </a:t>
            </a:r>
            <a:r>
              <a:rPr sz="1300" b="1" i="0" spc="320">
                <a:solidFill>
                  <a:srgbClr val="5C4A3A"/>
                </a:solidFill>
                <a:latin typeface="Avenir Next"/>
              </a:rPr>
              <a:t>value nº1 · income that repeats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78408"/>
            <a:ext cx="502920" cy="27940"/>
          </a:xfrm>
          <a:prstGeom prst="rect">
            <a:avLst/>
          </a:prstGeom>
          <a:solidFill>
            <a:srgbClr val="C47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D2E22"/>
                </a:solidFill>
                <a:latin typeface="Avenir Next"/>
              </a:rPr>
              <a:t>a brand deal ends. an audience that goes out with you doesn’t.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9" y="23774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9B8E82"/>
                </a:solidFill>
                <a:latin typeface="Avenir Next"/>
              </a:rPr>
              <a:t>brand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39" y="23774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C4704D"/>
                </a:solidFill>
                <a:latin typeface="Avenir Next"/>
              </a:rPr>
              <a:t>come offline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04184"/>
            <a:ext cx="10424160" cy="12700"/>
          </a:xfrm>
          <a:prstGeom prst="rect">
            <a:avLst/>
          </a:prstGeom>
          <a:solidFill>
            <a:srgbClr val="E8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52928"/>
            <a:ext cx="356615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C4A3A"/>
                </a:solidFill>
                <a:latin typeface="Avenir Next"/>
              </a:rPr>
              <a:t>how it starts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852928"/>
            <a:ext cx="3108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9B8E82"/>
                </a:solidFill>
                <a:latin typeface="Avenir Next"/>
              </a:rPr>
              <a:t>you pitch. they ghost.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39" y="2852928"/>
            <a:ext cx="3383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3D2E22"/>
                </a:solidFill>
                <a:latin typeface="Avenir Next"/>
              </a:rPr>
              <a:t>you’re invited. first ten only.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0840"/>
            <a:ext cx="10424160" cy="12700"/>
          </a:xfrm>
          <a:prstGeom prst="rect">
            <a:avLst/>
          </a:prstGeom>
          <a:solidFill>
            <a:srgbClr val="E8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29584"/>
            <a:ext cx="356615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C4A3A"/>
                </a:solidFill>
                <a:latin typeface="Avenir Next"/>
              </a:rPr>
              <a:t>how it pays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529584"/>
            <a:ext cx="3108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9B8E82"/>
                </a:solidFill>
                <a:latin typeface="Avenir Next"/>
              </a:rPr>
              <a:t>one post, one payment, start 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39" y="3529584"/>
            <a:ext cx="3383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3D2E22"/>
                </a:solidFill>
                <a:latin typeface="Avenir Next"/>
              </a:rPr>
              <a:t>same audience, new event every week — it stacks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857496"/>
            <a:ext cx="10424160" cy="12700"/>
          </a:xfrm>
          <a:prstGeom prst="rect">
            <a:avLst/>
          </a:prstGeom>
          <a:solidFill>
            <a:srgbClr val="E8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356615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C4A3A"/>
                </a:solidFill>
                <a:latin typeface="Avenir Next"/>
              </a:rPr>
              <a:t>when it pays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4206240"/>
            <a:ext cx="3108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9B8E82"/>
                </a:solidFill>
                <a:latin typeface="Avenir Next"/>
              </a:rPr>
              <a:t>invoices, net-60, follow-ups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39" y="4206240"/>
            <a:ext cx="3383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3D2E22"/>
                </a:solidFill>
                <a:latin typeface="Avenir Next"/>
              </a:rPr>
              <a:t>monthly, straight to your upi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534152"/>
            <a:ext cx="10424160" cy="12700"/>
          </a:xfrm>
          <a:prstGeom prst="rect">
            <a:avLst/>
          </a:prstGeom>
          <a:solidFill>
            <a:srgbClr val="E8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82896"/>
            <a:ext cx="356615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C4A3A"/>
                </a:solidFill>
                <a:latin typeface="Avenir Next"/>
              </a:rPr>
              <a:t>what it costs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4882896"/>
            <a:ext cx="3108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9B8E82"/>
                </a:solidFill>
                <a:latin typeface="Avenir Next"/>
              </a:rPr>
              <a:t>credibility, if the product is meh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39" y="4882896"/>
            <a:ext cx="3383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3D2E22"/>
                </a:solidFill>
                <a:latin typeface="Avenir Next"/>
              </a:rPr>
              <a:t>nothing — you only promote rooms you’re 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10808"/>
            <a:ext cx="10424160" cy="12700"/>
          </a:xfrm>
          <a:prstGeom prst="rect">
            <a:avLst/>
          </a:prstGeom>
          <a:solidFill>
            <a:srgbClr val="E8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559552"/>
            <a:ext cx="3566159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5C4A3A"/>
                </a:solidFill>
                <a:latin typeface="Avenir Next"/>
              </a:rPr>
              <a:t>what you need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5559552"/>
            <a:ext cx="31089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9B8E82"/>
                </a:solidFill>
                <a:latin typeface="Avenir Next"/>
              </a:rPr>
              <a:t>a big following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39" y="5559552"/>
            <a:ext cx="3383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3D2E22"/>
                </a:solidFill>
                <a:latin typeface="Avenir Next"/>
              </a:rPr>
              <a:t>people who trust your plans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37336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C4704D"/>
                </a:solidFill>
                <a:latin typeface="Avenir Next"/>
              </a:rPr>
              <a:t>₹150+ a seat as the floor · campaign events up to ₹250 · clicks pay even before anyone buys.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rty-64.jpg"/>
          <p:cNvPicPr>
            <a:picLocks noChangeAspect="1"/>
          </p:cNvPicPr>
          <p:nvPr/>
        </p:nvPicPr>
        <p:blipFill>
          <a:blip r:embed="rId2"/>
          <a:srcRect t="24670" b="24670"/>
          <a:stretch>
            <a:fillRect/>
          </a:stretch>
        </p:blipFill>
        <p:spPr>
          <a:xfrm>
            <a:off x="0" y="0"/>
            <a:ext cx="12191695" cy="4023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017520"/>
            <a:ext cx="12191695" cy="1005840"/>
          </a:xfrm>
          <a:prstGeom prst="rect">
            <a:avLst/>
          </a:prstGeom>
          <a:solidFill>
            <a:srgbClr val="0E0D0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0E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D4A574"/>
                </a:solidFill>
                <a:latin typeface="Avenir Next"/>
              </a:rPr>
              <a:t>✳  </a:t>
            </a:r>
            <a:r>
              <a:rPr sz="1300" b="1" i="0" spc="320">
                <a:solidFill>
                  <a:srgbClr val="B8AC9E"/>
                </a:solidFill>
                <a:latin typeface="Avenir Next"/>
              </a:rPr>
              <a:t>value nº2 · a content engine you attend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681728"/>
            <a:ext cx="502920" cy="2794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DF6"/>
                </a:solidFill>
                <a:latin typeface="Avenir Next"/>
              </a:rPr>
              <a:t>stop producing content. </a:t>
            </a:r>
            <a:r>
              <a:rPr sz="3200" b="1" i="0">
                <a:solidFill>
                  <a:srgbClr val="D4A574"/>
                </a:solidFill>
                <a:latin typeface="Avenir Next"/>
              </a:rPr>
              <a:t>start living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8AC9E"/>
                </a:solidFill>
                <a:latin typeface="Avenir Next"/>
              </a:rPr>
              <a:t>every room is a reel — real people, real moments, zero production budget. one reel per event you join, a one-paragraph brief, no scripts. that’s the whole job.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4704D"/>
                </a:solidFill>
                <a:latin typeface="Avenir Next"/>
              </a:rPr>
              <a:t>✳  </a:t>
            </a:r>
            <a:r>
              <a:rPr sz="1300" b="1" i="0" spc="320">
                <a:solidFill>
                  <a:srgbClr val="5C4A3A"/>
                </a:solidFill>
                <a:latin typeface="Avenir Next"/>
              </a:rPr>
              <a:t>value nº3 · your audience becomes your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78408"/>
            <a:ext cx="502920" cy="27940"/>
          </a:xfrm>
          <a:prstGeom prst="rect">
            <a:avLst/>
          </a:prstGeom>
          <a:solidFill>
            <a:srgbClr val="C47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3D2E22"/>
                </a:solidFill>
                <a:latin typeface="Avenir Next"/>
              </a:rPr>
              <a:t>the follower who dms you</a:t>
            </a:r>
          </a:p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C4704D"/>
                </a:solidFill>
                <a:latin typeface="Avenir Next"/>
              </a:rPr>
              <a:t>becomes the person across the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5C4A3A"/>
                </a:solidFill>
                <a:latin typeface="Avenir Next"/>
              </a:rPr>
              <a:t>most creator monetisation spends your audience’s trust. this one deepens it — you’re not selling them something to buy alone at home, you’re bringing them somewhere you’ll actually 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9B8E82"/>
                </a:solidFill>
                <a:latin typeface="Bradley Hand"/>
              </a:rPr>
              <a:t>the only program where “doing the job” means hanging out with your people.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4704D"/>
                </a:solidFill>
                <a:latin typeface="Avenir Next"/>
              </a:rPr>
              <a:t>✳  </a:t>
            </a:r>
            <a:r>
              <a:rPr sz="1300" b="1" i="0" spc="320">
                <a:solidFill>
                  <a:srgbClr val="5C4A3A"/>
                </a:solidFill>
                <a:latin typeface="Avenir Next"/>
              </a:rPr>
              <a:t>value nº4 · the ground floor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78408"/>
            <a:ext cx="502920" cy="27940"/>
          </a:xfrm>
          <a:prstGeom prst="rect">
            <a:avLst/>
          </a:prstGeom>
          <a:solidFill>
            <a:srgbClr val="C47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D2E22"/>
                </a:solidFill>
                <a:latin typeface="Avenir Next"/>
              </a:rPr>
              <a:t>ten creators. nobody’s reached the top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3429000" cy="1600200"/>
          </a:xfrm>
          <a:prstGeom prst="roundRect">
            <a:avLst>
              <a:gd name="adj" fmla="val 4000"/>
            </a:avLst>
          </a:prstGeom>
          <a:solidFill>
            <a:srgbClr val="FFFDF6"/>
          </a:solidFill>
          <a:ln w="12700">
            <a:solidFill>
              <a:srgbClr val="E8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43484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C4704D"/>
                </a:solidFill>
                <a:latin typeface="Avenir Next"/>
              </a:rPr>
              <a:t>level one · 10 seats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910328"/>
            <a:ext cx="2788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D2E22"/>
                </a:solidFill>
                <a:latin typeface="Avenir Next"/>
              </a:rPr>
              <a:t>payouts unlock — retroactive to your very first seat.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3108960"/>
            <a:ext cx="3429000" cy="2651760"/>
          </a:xfrm>
          <a:prstGeom prst="roundRect">
            <a:avLst>
              <a:gd name="adj" fmla="val 4000"/>
            </a:avLst>
          </a:prstGeom>
          <a:solidFill>
            <a:srgbClr val="FFFDF6"/>
          </a:solidFill>
          <a:ln w="12700">
            <a:solidFill>
              <a:srgbClr val="E8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338328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C4704D"/>
                </a:solidFill>
                <a:latin typeface="Avenir Next"/>
              </a:rPr>
              <a:t>level two · 50 seats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3858768"/>
            <a:ext cx="2788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D2E22"/>
                </a:solidFill>
                <a:latin typeface="Avenir Next"/>
              </a:rPr>
              <a:t>closer to the house — first look at campaigns, a louder say in what we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2057400"/>
            <a:ext cx="3429000" cy="3703320"/>
          </a:xfrm>
          <a:prstGeom prst="roundRect">
            <a:avLst>
              <a:gd name="adj" fmla="val 4000"/>
            </a:avLst>
          </a:prstGeom>
          <a:solidFill>
            <a:srgbClr val="3D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33172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D4A574"/>
                </a:solidFill>
                <a:latin typeface="Avenir Next"/>
              </a:rPr>
              <a:t>level three · 150 seats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807208"/>
            <a:ext cx="2788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FFDF6"/>
                </a:solidFill>
                <a:latin typeface="Avenir Next"/>
              </a:rPr>
              <a:t>founding creator. the perks up here are being saved for whoever arrives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9B8E82"/>
                </a:solidFill>
                <a:latin typeface="Bradley Hand"/>
              </a:rPr>
              <a:t>the first ten don’t join a program. they shape it — pages built with you, campaigns tuned together.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4704D"/>
                </a:solidFill>
                <a:latin typeface="Avenir Next"/>
              </a:rPr>
              <a:t>✳  </a:t>
            </a:r>
            <a:r>
              <a:rPr sz="1300" b="1" i="0" spc="320">
                <a:solidFill>
                  <a:srgbClr val="5C4A3A"/>
                </a:solidFill>
                <a:latin typeface="Avenir Next"/>
              </a:rPr>
              <a:t>what it costs you to 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78408"/>
            <a:ext cx="502920" cy="27940"/>
          </a:xfrm>
          <a:prstGeom prst="rect">
            <a:avLst/>
          </a:prstGeom>
          <a:solidFill>
            <a:srgbClr val="C47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C4704D"/>
                </a:solidFill>
                <a:latin typeface="Avenir Next"/>
              </a:rPr>
              <a:t>nothing. </a:t>
            </a:r>
            <a:r>
              <a:rPr sz="3800" b="1" i="0">
                <a:solidFill>
                  <a:srgbClr val="3D2E22"/>
                </a:solidFill>
                <a:latin typeface="Avenir Next"/>
              </a:rPr>
              <a:t>we designed the risk out of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C4704D"/>
                </a:solidFill>
                <a:latin typeface="Avenir Next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3D2E22"/>
                </a:solidFill>
                <a:latin typeface="Avenir Next"/>
              </a:rPr>
              <a:t>clicks pay before anyone buys.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C4A3A"/>
                </a:solidFill>
                <a:latin typeface="Avenir Next"/>
              </a:rPr>
              <a:t>every 100 clicks on your link earns — a floor under a slow week.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3931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C4704D"/>
                </a:solidFill>
                <a:latin typeface="Avenir Next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39312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3D2E22"/>
                </a:solidFill>
                <a:latin typeface="Avenir Next"/>
              </a:rPr>
              <a:t>your link remembers for 30 days. your code never expires.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05072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C4A3A"/>
                </a:solidFill>
                <a:latin typeface="Avenir Next"/>
              </a:rPr>
              <a:t>someone buys three weeks after your story died — still your sale.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354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C4704D"/>
                </a:solidFill>
                <a:latin typeface="Avenir Nex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35424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3D2E22"/>
                </a:solidFill>
                <a:latin typeface="Avenir Next"/>
              </a:rPr>
              <a:t>retroactive from ticket #1.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01184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C4A3A"/>
                </a:solidFill>
                <a:latin typeface="Avenir Next"/>
              </a:rPr>
              <a:t>earnings unlock at 10 lifetime tickets, then every seat pays — including the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3153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C4704D"/>
                </a:solidFill>
                <a:latin typeface="Avenir Next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3153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3D2E22"/>
                </a:solidFill>
                <a:latin typeface="Avenir Next"/>
              </a:rPr>
              <a:t>no quotas. no exclusivity. no contracts to escape.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79729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C4A3A"/>
                </a:solidFill>
                <a:latin typeface="Avenir Next"/>
              </a:rPr>
              <a:t>enrol only in events you’re excited about. leave whenever. keep your brand deals.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4704D"/>
                </a:solidFill>
                <a:latin typeface="Avenir Next"/>
              </a:rPr>
              <a:t>✳  </a:t>
            </a:r>
            <a:r>
              <a:rPr sz="1300" b="1" i="0" spc="320">
                <a:solidFill>
                  <a:srgbClr val="5C4A3A"/>
                </a:solidFill>
                <a:latin typeface="Avenir Next"/>
              </a:rPr>
              <a:t>let’s do your numbers — right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78408"/>
            <a:ext cx="502920" cy="27940"/>
          </a:xfrm>
          <a:prstGeom prst="rect">
            <a:avLst/>
          </a:prstGeom>
          <a:solidFill>
            <a:srgbClr val="C47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949440" cy="4892040"/>
          </a:xfrm>
          <a:prstGeom prst="roundRect">
            <a:avLst>
              <a:gd name="adj" fmla="val 4500"/>
            </a:avLst>
          </a:prstGeom>
          <a:solidFill>
            <a:srgbClr val="FFFDF6"/>
          </a:solidFill>
          <a:ln w="15240">
            <a:solidFill>
              <a:srgbClr val="E8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40" y="2331720"/>
            <a:ext cx="6126480" cy="12700"/>
          </a:xfrm>
          <a:prstGeom prst="rect">
            <a:avLst/>
          </a:prstGeom>
          <a:solidFill>
            <a:srgbClr val="E8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783080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3D2E22"/>
                </a:solidFill>
                <a:latin typeface="Avenir Next"/>
              </a:rPr>
              <a:t>story views on a normal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83080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 i="0">
                <a:solidFill>
                  <a:srgbClr val="C4704D"/>
                </a:solidFill>
                <a:latin typeface="Avenir Next"/>
              </a:rPr>
              <a:t>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3044952"/>
            <a:ext cx="6126480" cy="12700"/>
          </a:xfrm>
          <a:prstGeom prst="rect">
            <a:avLst/>
          </a:prstGeom>
          <a:solidFill>
            <a:srgbClr val="E8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496312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3D2E22"/>
                </a:solidFill>
                <a:latin typeface="Avenir Next"/>
              </a:rPr>
              <a:t>of those, people who’d click your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496312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 i="0">
                <a:solidFill>
                  <a:srgbClr val="C4704D"/>
                </a:solidFill>
                <a:latin typeface="Avenir Next"/>
              </a:rPr>
              <a:t>________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3758184"/>
            <a:ext cx="6126480" cy="12700"/>
          </a:xfrm>
          <a:prstGeom prst="rect">
            <a:avLst/>
          </a:prstGeom>
          <a:solidFill>
            <a:srgbClr val="E8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209544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3D2E22"/>
                </a:solidFill>
                <a:latin typeface="Avenir Next"/>
              </a:rPr>
              <a:t>every 100 clicks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209544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 i="0">
                <a:solidFill>
                  <a:srgbClr val="C4704D"/>
                </a:solidFill>
                <a:latin typeface="Avenir Next"/>
              </a:rPr>
              <a:t>earns you 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4471416"/>
            <a:ext cx="6126480" cy="12700"/>
          </a:xfrm>
          <a:prstGeom prst="rect">
            <a:avLst/>
          </a:prstGeom>
          <a:solidFill>
            <a:srgbClr val="E8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922776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3D2E22"/>
                </a:solidFill>
                <a:latin typeface="Avenir Next"/>
              </a:rPr>
              <a:t>friends + followers who’d actually 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922776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 i="0">
                <a:solidFill>
                  <a:srgbClr val="C4704D"/>
                </a:solidFill>
                <a:latin typeface="Avenir Next"/>
              </a:rPr>
              <a:t>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5184648"/>
            <a:ext cx="6126480" cy="12700"/>
          </a:xfrm>
          <a:prstGeom prst="rect">
            <a:avLst/>
          </a:prstGeom>
          <a:solidFill>
            <a:srgbClr val="E8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636008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3D2E22"/>
                </a:solidFill>
                <a:latin typeface="Avenir Next"/>
              </a:rPr>
              <a:t>× ₹150–250 a seat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636008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 i="0">
                <a:solidFill>
                  <a:srgbClr val="C4704D"/>
                </a:solidFill>
                <a:latin typeface="Avenir Next"/>
              </a:rPr>
              <a:t>= ₹ ________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5897880"/>
            <a:ext cx="6126480" cy="12700"/>
          </a:xfrm>
          <a:prstGeom prst="rect">
            <a:avLst/>
          </a:prstGeom>
          <a:solidFill>
            <a:srgbClr val="E8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5349240"/>
            <a:ext cx="4480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3D2E22"/>
                </a:solidFill>
                <a:latin typeface="Avenir Next"/>
              </a:rPr>
              <a:t>events you’d join in a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349240"/>
            <a:ext cx="18745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 i="0">
                <a:solidFill>
                  <a:srgbClr val="C4704D"/>
                </a:solidFill>
                <a:latin typeface="Avenir Next"/>
              </a:rPr>
              <a:t>× ________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6153912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3D2E22"/>
                </a:solidFill>
                <a:latin typeface="Avenir Next"/>
              </a:rPr>
              <a:t>your month  =  ₹ ____________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417320"/>
            <a:ext cx="3246120" cy="4892040"/>
          </a:xfrm>
          <a:prstGeom prst="roundRect">
            <a:avLst>
              <a:gd name="adj" fmla="val 5000"/>
            </a:avLst>
          </a:prstGeom>
          <a:solidFill>
            <a:srgbClr val="3D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1828800"/>
            <a:ext cx="2606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AC9E"/>
                </a:solidFill>
                <a:latin typeface="Avenir Next"/>
              </a:rPr>
              <a:t>for scale —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D2E22"/>
                </a:solidFill>
                <a:latin typeface="Avenir Next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DF6"/>
                </a:solidFill>
                <a:latin typeface="Avenir Next"/>
              </a:rPr>
              <a:t>10 friends</a:t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D4A574"/>
                </a:solidFill>
                <a:latin typeface="Avenir Next"/>
              </a:rPr>
              <a:t>≈ ₹1,500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D2E22"/>
                </a:solidFill>
                <a:latin typeface="Avenir Next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DF6"/>
                </a:solidFill>
                <a:latin typeface="Avenir Next"/>
              </a:rPr>
              <a:t>50 seats a month</a:t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D4A574"/>
                </a:solidFill>
                <a:latin typeface="Avenir Next"/>
              </a:rPr>
              <a:t>≈ ₹7,500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D2E22"/>
                </a:solidFill>
                <a:latin typeface="Avenir Next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DF6"/>
                </a:solidFill>
                <a:latin typeface="Avenir Next"/>
              </a:rPr>
              <a:t>₹250 campaign event</a:t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D4A574"/>
                </a:solidFill>
                <a:latin typeface="Avenir Next"/>
              </a:rPr>
              <a:t>≈ ₹12,500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D2E22"/>
                </a:solidFill>
                <a:latin typeface="Avenir Next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8AC9E"/>
                </a:solidFill>
                <a:latin typeface="Avenir Next"/>
              </a:rPr>
              <a:t>examples, not promises. you see the exact rate before you post.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rty-73.jpg"/>
          <p:cNvPicPr>
            <a:picLocks noChangeAspect="1"/>
          </p:cNvPicPr>
          <p:nvPr/>
        </p:nvPicPr>
        <p:blipFill>
          <a:blip r:embed="rId2"/>
          <a:srcRect t="6825" b="68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D0B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FFFDF6"/>
                </a:solidFill>
                <a:latin typeface="Avenir Next"/>
              </a:rPr>
              <a:t>you were going out anyway.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D4A574"/>
                </a:solidFill>
                <a:latin typeface="Avenir Next"/>
              </a:rPr>
              <a:t>get paid to bring people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FFFDF6"/>
                </a:solidFill>
                <a:latin typeface="Avenir Next"/>
              </a:rPr>
              <a:t>this week, if you’re in:  ①  pick your handle   ②  pick your first event   ③  we draft your page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00600"/>
            <a:ext cx="4023360" cy="777240"/>
          </a:xfrm>
          <a:prstGeom prst="roundRect">
            <a:avLst>
              <a:gd name="adj" fmla="val 50000"/>
            </a:avLst>
          </a:prstGeom>
          <a:solidFill>
            <a:srgbClr val="C47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4023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FFFDF6"/>
                </a:solidFill>
                <a:latin typeface="Avenir Next"/>
              </a:rPr>
              <a:t>say yes on whatsapp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B8AC9E"/>
                </a:solidFill>
                <a:latin typeface="Avenir Next"/>
              </a:rPr>
              <a:t>+91 93809 06810 · a real human replies. usually fast.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093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8A7A6A"/>
                </a:solidFill>
                <a:latin typeface="Avenir Next"/>
              </a:rPr>
              <a:t>creators disclose their partnership with come offline per asci guidelines. commissions apply to eligible completed purchases only — refunds, cancellations and personal purchases excluded. earnings examples are illustrative, not guarantees.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